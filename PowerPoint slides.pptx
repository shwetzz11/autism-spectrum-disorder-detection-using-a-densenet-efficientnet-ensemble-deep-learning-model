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lice" charset="1" panose="00000500000000000000"/>
      <p:regular r:id="rId14"/>
    </p:embeddedFont>
    <p:embeddedFont>
      <p:font typeface="Open Sauce" charset="1" panose="00000500000000000000"/>
      <p:regular r:id="rId15"/>
    </p:embeddedFont>
    <p:embeddedFont>
      <p:font typeface="Nunito Sans Bold" charset="1" panose="00000000000000000000"/>
      <p:regular r:id="rId16"/>
    </p:embeddedFont>
    <p:embeddedFont>
      <p:font typeface="Amiko" charset="1" panose="00000500000000000000"/>
      <p:regular r:id="rId17"/>
    </p:embeddedFont>
    <p:embeddedFont>
      <p:font typeface="Amiko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15207" y="3285410"/>
            <a:ext cx="15444093" cy="205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9"/>
              </a:lnSpc>
            </a:pPr>
            <a:r>
              <a:rPr lang="en-US" sz="5329">
                <a:solidFill>
                  <a:srgbClr val="03275A"/>
                </a:solidFill>
                <a:latin typeface="Alice"/>
                <a:ea typeface="Alice"/>
                <a:cs typeface="Alice"/>
                <a:sym typeface="Alice"/>
              </a:rPr>
              <a:t>AUTISM SPECTRUM DISORDER DETECTION USING A DENSENET–EFFICIENTNET ENSEMBLE DEEP LEARNING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0843" y="7293232"/>
            <a:ext cx="15764207" cy="196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3864">
                <a:solidFill>
                  <a:srgbClr val="03275A"/>
                </a:solidFill>
                <a:latin typeface="Open Sauce"/>
                <a:ea typeface="Open Sauce"/>
                <a:cs typeface="Open Sauce"/>
                <a:sym typeface="Open Sauce"/>
              </a:rPr>
              <a:t>Team Members:</a:t>
            </a:r>
          </a:p>
          <a:p>
            <a:pPr algn="l">
              <a:lnSpc>
                <a:spcPts val="3864"/>
              </a:lnSpc>
            </a:pPr>
            <a:r>
              <a:rPr lang="en-US" sz="3864">
                <a:solidFill>
                  <a:srgbClr val="03275A"/>
                </a:solidFill>
                <a:latin typeface="Open Sauce"/>
                <a:ea typeface="Open Sauce"/>
                <a:cs typeface="Open Sauce"/>
                <a:sym typeface="Open Sauce"/>
              </a:rPr>
              <a:t>Dhanya S - 23MIA1010</a:t>
            </a:r>
          </a:p>
          <a:p>
            <a:pPr algn="l">
              <a:lnSpc>
                <a:spcPts val="3864"/>
              </a:lnSpc>
            </a:pPr>
            <a:r>
              <a:rPr lang="en-US" sz="3864">
                <a:solidFill>
                  <a:srgbClr val="03275A"/>
                </a:solidFill>
                <a:latin typeface="Open Sauce"/>
                <a:ea typeface="Open Sauce"/>
                <a:cs typeface="Open Sauce"/>
                <a:sym typeface="Open Sauce"/>
              </a:rPr>
              <a:t>Shweta V - 23MIA1050</a:t>
            </a:r>
          </a:p>
          <a:p>
            <a:pPr algn="l">
              <a:lnSpc>
                <a:spcPts val="3864"/>
              </a:lnSpc>
            </a:pPr>
            <a:r>
              <a:rPr lang="en-US" sz="3864">
                <a:solidFill>
                  <a:srgbClr val="03275A"/>
                </a:solidFill>
                <a:latin typeface="Open Sauce"/>
                <a:ea typeface="Open Sauce"/>
                <a:cs typeface="Open Sauce"/>
                <a:sym typeface="Open Sauce"/>
              </a:rPr>
              <a:t>Samyuktha S - 23MIA1162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34787" y="1689120"/>
            <a:ext cx="13614562" cy="104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b="true" sz="50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MOTIVATION / PROBLEM STATEMENT</a:t>
            </a:r>
          </a:p>
          <a:p>
            <a:pPr algn="ctr">
              <a:lnSpc>
                <a:spcPts val="3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99761" y="3465195"/>
            <a:ext cx="16474115" cy="579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Early Autism Spectrum Disorder (ASD) diagnosis is challenging, subjective, and time-consuming.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Subtle facial features linked to ASD can be detected using deep learning.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Existing single CNN models show limited generalization on small, diverse datasets.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Need for a robust ensemble model that combines multiple architectures to improve accuracy and reliability.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Proposed DenseNet–EfficientNet ensemble aims to deliver non-invasive, automated, and scalable ASD screening through facial images.</a:t>
            </a:r>
          </a:p>
          <a:p>
            <a:pPr algn="l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44446" y="1481159"/>
            <a:ext cx="10998524" cy="68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51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BASE PAPER 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16495"/>
            <a:ext cx="17478698" cy="60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23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Title: A Deep Learning-Based Ensemble for Autism Spectrum Disorder Diagnosis Using Facial Images</a:t>
            </a:r>
          </a:p>
          <a:p>
            <a:pPr algn="l">
              <a:lnSpc>
                <a:spcPts val="4373"/>
              </a:lnSpc>
            </a:pPr>
            <a:r>
              <a:rPr lang="en-US" sz="3123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Authors: Tayyaba Farhat et al., 2025</a:t>
            </a:r>
          </a:p>
          <a:p>
            <a:pPr algn="l">
              <a:lnSpc>
                <a:spcPts val="4373"/>
              </a:lnSpc>
            </a:pPr>
            <a:r>
              <a:rPr lang="en-US" sz="3123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Goal: Detect ASD from facial images using deep learning.</a:t>
            </a:r>
          </a:p>
          <a:p>
            <a:pPr algn="l">
              <a:lnSpc>
                <a:spcPts val="4373"/>
              </a:lnSpc>
            </a:pPr>
            <a:r>
              <a:rPr lang="en-US" sz="3123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Dataset: Autism Image Data (balanced autistic &amp; non-autistic).</a:t>
            </a:r>
          </a:p>
          <a:p>
            <a:pPr algn="l">
              <a:lnSpc>
                <a:spcPts val="4373"/>
              </a:lnSpc>
            </a:pPr>
            <a:r>
              <a:rPr lang="en-US" sz="3123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Method: Ensemble of VGG16 and Xception with transfer learning and feature fusion.</a:t>
            </a:r>
          </a:p>
          <a:p>
            <a:pPr algn="l">
              <a:lnSpc>
                <a:spcPts val="4373"/>
              </a:lnSpc>
            </a:pPr>
            <a:r>
              <a:rPr lang="en-US" sz="3123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Preprocessing: Face alignment, noise reduction, histogram equalization, data augmentation.</a:t>
            </a:r>
          </a:p>
          <a:p>
            <a:pPr algn="l">
              <a:lnSpc>
                <a:spcPts val="4373"/>
              </a:lnSpc>
            </a:pPr>
            <a:r>
              <a:rPr lang="en-US" sz="3123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Result: Achieved 97% accuracy, outperforming single models.</a:t>
            </a:r>
          </a:p>
          <a:p>
            <a:pPr algn="l">
              <a:lnSpc>
                <a:spcPts val="4373"/>
              </a:lnSpc>
            </a:pPr>
            <a:r>
              <a:rPr lang="en-US" sz="3123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Conclusion: Ensemble fusion enhances accuracy and reliability in ASD detection.</a:t>
            </a:r>
          </a:p>
          <a:p>
            <a:pPr algn="l">
              <a:lnSpc>
                <a:spcPts val="437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17304" y="1537499"/>
            <a:ext cx="4823329" cy="8679053"/>
          </a:xfrm>
          <a:custGeom>
            <a:avLst/>
            <a:gdLst/>
            <a:ahLst/>
            <a:cxnLst/>
            <a:rect r="r" b="b" t="t" l="l"/>
            <a:pathLst>
              <a:path h="8679053" w="4823329">
                <a:moveTo>
                  <a:pt x="0" y="0"/>
                </a:moveTo>
                <a:lnTo>
                  <a:pt x="4823329" y="0"/>
                </a:lnTo>
                <a:lnTo>
                  <a:pt x="4823329" y="8679054"/>
                </a:lnTo>
                <a:lnTo>
                  <a:pt x="0" y="8679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57" r="0" b="-145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84103" y="455076"/>
            <a:ext cx="10998524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87192" y="5848312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95093" y="2852499"/>
            <a:ext cx="7274642" cy="5546915"/>
          </a:xfrm>
          <a:custGeom>
            <a:avLst/>
            <a:gdLst/>
            <a:ahLst/>
            <a:cxnLst/>
            <a:rect r="r" b="b" t="t" l="l"/>
            <a:pathLst>
              <a:path h="5546915" w="7274642">
                <a:moveTo>
                  <a:pt x="0" y="0"/>
                </a:moveTo>
                <a:lnTo>
                  <a:pt x="7274642" y="0"/>
                </a:lnTo>
                <a:lnTo>
                  <a:pt x="7274642" y="5546914"/>
                </a:lnTo>
                <a:lnTo>
                  <a:pt x="0" y="55469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20696" y="2852499"/>
            <a:ext cx="6652971" cy="5546915"/>
          </a:xfrm>
          <a:custGeom>
            <a:avLst/>
            <a:gdLst/>
            <a:ahLst/>
            <a:cxnLst/>
            <a:rect r="r" b="b" t="t" l="l"/>
            <a:pathLst>
              <a:path h="5546915" w="6652971">
                <a:moveTo>
                  <a:pt x="0" y="0"/>
                </a:moveTo>
                <a:lnTo>
                  <a:pt x="6652971" y="0"/>
                </a:lnTo>
                <a:lnTo>
                  <a:pt x="6652971" y="5546914"/>
                </a:lnTo>
                <a:lnTo>
                  <a:pt x="0" y="55469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28019" y="996758"/>
            <a:ext cx="11831962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RESULTS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23903" y="3284265"/>
            <a:ext cx="12709992" cy="4162522"/>
          </a:xfrm>
          <a:custGeom>
            <a:avLst/>
            <a:gdLst/>
            <a:ahLst/>
            <a:cxnLst/>
            <a:rect r="r" b="b" t="t" l="l"/>
            <a:pathLst>
              <a:path h="4162522" w="12709992">
                <a:moveTo>
                  <a:pt x="0" y="0"/>
                </a:moveTo>
                <a:lnTo>
                  <a:pt x="12709992" y="0"/>
                </a:lnTo>
                <a:lnTo>
                  <a:pt x="12709992" y="4162523"/>
                </a:lnTo>
                <a:lnTo>
                  <a:pt x="0" y="41625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28019" y="1238250"/>
            <a:ext cx="11831962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RESULTS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01933" y="455076"/>
            <a:ext cx="11831962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KEY FINDINGS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9923" y="2686088"/>
            <a:ext cx="19363969" cy="753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M</a:t>
            </a:r>
            <a:r>
              <a:rPr lang="en-US" sz="24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odel Performance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Best Validation Accuracy: 89.58% at Epoch 19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Best Training Accuracy: 82.50% at Epoch 42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Validation accuracy consistently remained higher than training, indicating good generalization.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Ensemble Evaluation Metrics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Overall Accuracy: 78.67%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Sensitivity (Recall for Autistic class): 0.8533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Specificity (Recall for Non-Autistic class): 0.7200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ROC AUC: 0.8726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PR AUC: 0.8853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Classification Insights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The Dual-Input Pipeline (DIP) effectively combines EfficientNetB0 and DenseNet121 for robust feature extraction.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Ensemble averaging (Epochs 45, 40, 35) improved stability and confidence of predictions.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The model shows strong discrimination capability between autistic and non-autistic facial features.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Behavior Observed During Training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Early epochs showed rapid learning → plateau at middle stages.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Slight signs of overfitting after Epoch 30, but ensemble inference mitigated this.</a:t>
            </a:r>
          </a:p>
          <a:p>
            <a:pPr algn="l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18018" y="944078"/>
            <a:ext cx="13614562" cy="1026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b="true" sz="77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FUTURE ENHANCEMENTS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2803" y="2699469"/>
            <a:ext cx="16016849" cy="740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Model Improvements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Fine-tune pretrained layers of EfficientNetB0 and DenseNet121 instead of using fully frozen feature extractors.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Add attention modules (e.g., SE-blocks or CBAM) to strengthen discriminative feature learning.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Introduce Grad-CAM / Grad-CAM++ for model explainability and transparent decision making.</a:t>
            </a: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Training Enhancements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Implement Early Stopping based on validation accuracy or loss to prevent late-epoch overfitting.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Add learning rate scheduling (Cosine decay, ReduceLROnPlateau).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Use data balancing or class-specific augmentation to improve specificity.</a:t>
            </a: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Dataset-Level Improvements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Increase dataset diversity (age, pose, ethnicity) for better generalization.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Add more samples for the non-autistic class to reduce bias in sensitivity/specificity.</a:t>
            </a: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Ensembling &amp; Deployment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Experiment with weighted ensembling instead of mean averaging.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Try stacked ensemble with meta-learners (XGBoost / Logistic Regression).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Convert model to TensorRT / TFLite for edge deployment in diagnostic tools.</a:t>
            </a: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03275A"/>
                </a:solidFill>
                <a:latin typeface="Amiko Bold"/>
                <a:ea typeface="Amiko Bold"/>
                <a:cs typeface="Amiko Bold"/>
                <a:sym typeface="Amiko Bold"/>
              </a:rPr>
              <a:t>Research Extensions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Integrate multi-modal signals (eye-tracking, behavioral markers).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Compare DIP with Vision Transformers (ViT / Swin) for state-of-the-art performance.</a:t>
            </a:r>
          </a:p>
          <a:p>
            <a:pPr algn="just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DAG4lOUTecA</dc:identifier>
  <dcterms:modified xsi:type="dcterms:W3CDTF">2011-08-01T06:04:30Z</dcterms:modified>
  <cp:revision>1</cp:revision>
  <dc:title>Blue Grey Simple Group Project Presentation</dc:title>
</cp:coreProperties>
</file>